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182A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EXECUTIVE RESEARCH REPORT &amp; QUANTITATIVE ANALYTICS</a:t>
            </a:r>
          </a:p>
          <a:p>
            <a:pPr>
              <a:spcAft>
                <a:spcPts val="1200"/>
              </a:spcAft>
              <a:defRPr sz="3200" b="1">
                <a:solidFill>
                  <a:srgbClr val="F1F5F9"/>
                </a:solidFill>
                <a:latin typeface="Calibri"/>
              </a:defRPr>
            </a:pPr>
            <a:r>
              <a:t>Customer Segmentation and Churn Pattern Analytics in European Banking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Empirical Analysis of Depositor Attrition, Demographic Vulnerabilities, and Capital Balance Flight Across 10,000 European Retail Accounts</a:t>
            </a:r>
          </a:p>
          <a:p>
            <a:pPr>
              <a:spcAft>
                <a:spcPts val="40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Author / Lead Analyst: Panchaksharayya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Institutional Affiliation: Quantitative Banking Analytics and Financial Risk Advisory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Executive Summary and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Industry Context and Strategic Challenge</a:t>
            </a:r>
          </a:p>
          <a:p>
            <a:pPr>
              <a:spcAft>
                <a:spcPts val="800"/>
              </a:spcAft>
              <a:defRPr b="1" sz="1200">
                <a:solidFill>
                  <a:srgbClr val="F1F5F9"/>
                </a:solidFill>
              </a:defRPr>
            </a:pPr>
            <a:r>
              <a:t>- Rising Attrition in European Retail Banking: </a:t>
            </a:r>
            <a:r>
              <a:rPr b="0">
                <a:solidFill>
                  <a:srgbClr val="94A3B8"/>
                </a:solidFill>
              </a:rPr>
              <a:t>Open Banking regulations (PSD2/PSD3) and aggressive fintech challenger banks have lowered account migration friction across the Eurozone.</a:t>
            </a:r>
          </a:p>
          <a:p>
            <a:pPr>
              <a:spcAft>
                <a:spcPts val="800"/>
              </a:spcAft>
              <a:defRPr b="1" sz="1200">
                <a:solidFill>
                  <a:srgbClr val="F1F5F9"/>
                </a:solidFill>
              </a:defRPr>
            </a:pPr>
            <a:r>
              <a:t>- The Limitations of Aggregate Metrics: </a:t>
            </a:r>
            <a:r>
              <a:rPr b="0">
                <a:solidFill>
                  <a:srgbClr val="94A3B8"/>
                </a:solidFill>
              </a:rPr>
              <a:t>Standard enterprise reporting tracks aggregate churn (~20%), obscuring catastrophic flight within ultra-profitable micro-segments.</a:t>
            </a:r>
          </a:p>
          <a:p>
            <a:pPr>
              <a:spcAft>
                <a:spcPts val="800"/>
              </a:spcAft>
              <a:defRPr b="1" sz="1200">
                <a:solidFill>
                  <a:srgbClr val="F1F5F9"/>
                </a:solidFill>
              </a:defRPr>
            </a:pPr>
            <a:r>
              <a:t>- Balance Sheet and Liquidity Impact: </a:t>
            </a:r>
            <a:r>
              <a:rPr b="0">
                <a:solidFill>
                  <a:srgbClr val="94A3B8"/>
                </a:solidFill>
              </a:rPr>
              <a:t>Customer attrition destroys Customer Lifetime Value (CLV), inflates replacement customer acquisition costs by 5x to 7x, and drains core deposit stability under Basel III Liquidity Coverage Ratio (LCR) guidelines.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Primary Research and Analytical Scope</a:t>
            </a:r>
          </a:p>
          <a:p>
            <a:pPr>
              <a:spcAft>
                <a:spcPts val="800"/>
              </a:spcAft>
              <a:defRPr b="1" sz="1200">
                <a:solidFill>
                  <a:srgbClr val="F1F5F9"/>
                </a:solidFill>
              </a:defRPr>
            </a:pPr>
            <a:r>
              <a:t>- Empirical Baseline Quantification: </a:t>
            </a:r>
            <a:r>
              <a:rPr b="0">
                <a:solidFill>
                  <a:srgbClr val="94A3B8"/>
                </a:solidFill>
              </a:rPr>
              <a:t>Conduct an exhaustive audit of 10,000 retail banking accounts across France, Germany, and Spain to establish empirical churn baselines.</a:t>
            </a:r>
          </a:p>
          <a:p>
            <a:pPr>
              <a:spcAft>
                <a:spcPts val="800"/>
              </a:spcAft>
              <a:defRPr b="1" sz="1200">
                <a:solidFill>
                  <a:srgbClr val="F1F5F9"/>
                </a:solidFill>
              </a:defRPr>
            </a:pPr>
            <a:r>
              <a:t>- Multi-Dimensional Segmentation: </a:t>
            </a:r>
            <a:r>
              <a:rPr b="0">
                <a:solidFill>
                  <a:srgbClr val="94A3B8"/>
                </a:solidFill>
              </a:rPr>
              <a:t>Evaluate intersecting customer profiles spanning Geography, Age, Gender, Balance Tiers, Digital Engagement, and Product Breadth.</a:t>
            </a:r>
          </a:p>
          <a:p>
            <a:pPr>
              <a:spcAft>
                <a:spcPts val="800"/>
              </a:spcAft>
              <a:defRPr b="1" sz="1200">
                <a:solidFill>
                  <a:srgbClr val="F1F5F9"/>
                </a:solidFill>
              </a:defRPr>
            </a:pPr>
            <a:r>
              <a:t>- Capital Exposure Modeling: </a:t>
            </a:r>
            <a:r>
              <a:rPr b="0">
                <a:solidFill>
                  <a:srgbClr val="94A3B8"/>
                </a:solidFill>
              </a:rPr>
              <a:t>Quantify exact Euro-denominated liquidity flight across high-balance account tiers rather than relying strictly on account counts.</a:t>
            </a:r>
          </a:p>
          <a:p>
            <a:pPr>
              <a:spcAft>
                <a:spcPts val="800"/>
              </a:spcAft>
              <a:defRPr b="1" sz="1200">
                <a:solidFill>
                  <a:srgbClr val="F1F5F9"/>
                </a:solidFill>
              </a:defRPr>
            </a:pPr>
            <a:r>
              <a:t>- Operational Deployment: </a:t>
            </a:r>
            <a:r>
              <a:rPr b="0">
                <a:solidFill>
                  <a:srgbClr val="94A3B8"/>
                </a:solidFill>
              </a:rPr>
              <a:t>Formulate a concrete 4-Pillar Strategic Retention Playbook and deploy an interactive production scoring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Dataset Architecture and Exploratory Portfolio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3716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TOTAL DEPOSITOR RECORDS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10,000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Audited retail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3716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OVERALL CHURN RATE</a:t>
            </a:r>
          </a:p>
          <a:p>
            <a:pPr>
              <a:defRPr sz="2200" b="1">
                <a:solidFill>
                  <a:srgbClr val="EF4444"/>
                </a:solidFill>
              </a:defRPr>
            </a:pPr>
            <a:r>
              <a:t>20.37%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2,037 exited depositors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3716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TOTAL RETAINED COHORT</a:t>
            </a:r>
          </a:p>
          <a:p>
            <a:pPr>
              <a:defRPr sz="2200" b="1">
                <a:solidFill>
                  <a:srgbClr val="F59E0B"/>
                </a:solidFill>
              </a:defRPr>
            </a:pPr>
            <a:r>
              <a:t>79.63%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7,963 active depositors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3716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PORTFOLIO BALANCE AUDITED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EUR 764.86M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Mean: EUR 76,486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Key Feature Dimensions Evaluated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Demographic Attributes: Age (18 to 92), Gender (54.6% Male, 45.4% Female).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Geographic Jurisdictions: France (5,014), Germany (2,509), Spain (2,477).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Credit Risk Profile: Credit Score ranging from 350 to 850 (Mean: 650.5).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Relationship Tenure: Customer tenure spans from 0 to 10 years (Mean: 5.0).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Banking Product Density: Holding between 1 and 4 institutional products.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Exploratory Data Integrity &amp; Validation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Zero Missing Values: Full completeness across all 10,000 rows and 14 raw variables.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Zero-Balance Depositor Cohort: 36.17% (3,617 accounts) maintain 0.00 EUR balance (predominantly in France and Spain).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Identity Sanitization: CustomerId and Surname decoupled from analytical modeling to maintain GDPR compliance.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- Target Balance: 20.37% exit proportion provides robust minority class representation without requiring artificial oversampling.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Geographic Variance and the German Attrition Anomaly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</a:defRPr>
            </a:pPr>
            <a:r>
              <a:t>FRANCE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5,014 Accounts | Baseline Market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Churn Rate: 16.15%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Total Attrition: 810 Exits | GRI: 0.79x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286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</a:defRPr>
            </a:pPr>
            <a:r>
              <a:t>SPAIN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2,477 Accounts | Stable Cohort</a:t>
            </a:r>
          </a:p>
          <a:p>
            <a:pPr>
              <a:defRPr sz="2000" b="1">
                <a:solidFill>
                  <a:srgbClr val="F1F5F9"/>
                </a:solidFill>
              </a:defRPr>
            </a:pPr>
            <a:r>
              <a:t>Churn Rate: 16.67%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Total Attrition: 413 Exits | GRI: 0.82x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2286000"/>
          </a:xfrm>
          <a:prstGeom prst="roundRect">
            <a:avLst/>
          </a:prstGeom>
          <a:solidFill>
            <a:srgbClr val="26141C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GERMANY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2,509 Accounts | Critical Risk Zone</a:t>
            </a:r>
          </a:p>
          <a:p>
            <a:pPr>
              <a:defRPr sz="2000" b="1">
                <a:solidFill>
                  <a:srgbClr val="EF4444"/>
                </a:solidFill>
              </a:defRPr>
            </a:pPr>
            <a:r>
              <a:t>Churn Rate: 32.44%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Total Attrition: 814 Exits | GRI: 1.59x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</a:defRPr>
            </a:pPr>
            <a:r>
              <a:t>Root Drivers of the German Banking Disparity (GRI = 1.59x)</a:t>
            </a:r>
          </a:p>
          <a:p>
            <a:pPr>
              <a:spcAft>
                <a:spcPts val="300"/>
              </a:spcAft>
              <a:defRPr b="1" sz="1100">
                <a:solidFill>
                  <a:srgbClr val="F1F5F9"/>
                </a:solidFill>
              </a:defRPr>
            </a:pPr>
            <a:r>
              <a:t>- Volume Disproportion: </a:t>
            </a:r>
            <a:r>
              <a:rPr b="0">
                <a:solidFill>
                  <a:srgbClr val="94A3B8"/>
                </a:solidFill>
              </a:rPr>
              <a:t>Germany contains only 25.09% of the customer base but accounts for 39.96% of all European churned depositors.</a:t>
            </a:r>
          </a:p>
          <a:p>
            <a:pPr>
              <a:spcAft>
                <a:spcPts val="300"/>
              </a:spcAft>
              <a:defRPr b="1" sz="1100">
                <a:solidFill>
                  <a:srgbClr val="F1F5F9"/>
                </a:solidFill>
              </a:defRPr>
            </a:pPr>
            <a:r>
              <a:t>- Interest Rate &amp; Yield Sensitivity: </a:t>
            </a:r>
            <a:r>
              <a:rPr b="0">
                <a:solidFill>
                  <a:srgbClr val="94A3B8"/>
                </a:solidFill>
              </a:rPr>
              <a:t>German retail depositors demonstrate rapid deposit reallocation toward high-yield digital neobanks (such as N26, Trade Republic, and ING DiBa).</a:t>
            </a:r>
          </a:p>
          <a:p>
            <a:pPr>
              <a:spcAft>
                <a:spcPts val="300"/>
              </a:spcAft>
              <a:defRPr b="1" sz="1100">
                <a:solidFill>
                  <a:srgbClr val="F1F5F9"/>
                </a:solidFill>
              </a:defRPr>
            </a:pPr>
            <a:r>
              <a:t>- Compounded Demographic Risk: </a:t>
            </a:r>
            <a:r>
              <a:rPr b="0">
                <a:solidFill>
                  <a:srgbClr val="94A3B8"/>
                </a:solidFill>
              </a:rPr>
              <a:t>German depositors aged 46 to 60 experience a staggering 67.33% churn rate, representing the single highest risk intersection in the entire dataset.</a:t>
            </a:r>
          </a:p>
          <a:p>
            <a:pPr>
              <a:spcAft>
                <a:spcPts val="300"/>
              </a:spcAft>
              <a:defRPr b="1" sz="1100">
                <a:solidFill>
                  <a:srgbClr val="F1F5F9"/>
                </a:solidFill>
              </a:defRPr>
            </a:pPr>
            <a:r>
              <a:t>- Operational Implication: </a:t>
            </a:r>
            <a:r>
              <a:rPr b="0">
                <a:solidFill>
                  <a:srgbClr val="94A3B8"/>
                </a:solidFill>
              </a:rPr>
              <a:t>A uniform European retention strategy is inherently flawed. Germany requires a dedicated regional retention desk and tailored yield preservation offerings.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Demographic Vulnerability and the Pre-Retirement Crisis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Churn Rate Distribution by Age Cohort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Age 18 to 30 (Young Professionals)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Volume: 1,968 accounts  |  Observed Churn: 7.52%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Age 31 to 45 (Career Accumulators)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Volume: 6,032 accounts  |  Observed Churn: 14.78%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Age 46 to 60 (Pre-Retirement Decumulation)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Volume: 1,586 accounts  |  Observed Churn: 51.12%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Age 61 and Above (Retirees / Pensioners)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Volume: 414 accounts  |  Observed Churn: 27.29%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Behavioral &amp; Financial Drivers (Age 46-60)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Peak Net Worth Phase: </a:t>
            </a:r>
            <a:r>
              <a:rPr b="0">
                <a:solidFill>
                  <a:srgbClr val="94A3B8"/>
                </a:solidFill>
              </a:rPr>
              <a:t>Depositors aged 46 to 60 control peak career earnings, substantial mortgage equity, and major investment portfolios.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Pension &amp; Decumulation Planning: </a:t>
            </a:r>
            <a:r>
              <a:rPr b="0">
                <a:solidFill>
                  <a:srgbClr val="94A3B8"/>
                </a:solidFill>
              </a:rPr>
              <a:t>Approaching retirement creates demand for consolidated wealth advisory, private banking services, and estate planning—services retail branches fail to provide.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Heightened Fee Sensitivity: </a:t>
            </a:r>
            <a:r>
              <a:rPr b="0">
                <a:solidFill>
                  <a:srgbClr val="94A3B8"/>
                </a:solidFill>
              </a:rPr>
              <a:t>Unlike younger digital customers who tolerate account maintenance fees, pre-retirees actively switch institutions to eliminate custodial drag.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Gender Disparity Finding: </a:t>
            </a:r>
            <a:r>
              <a:rPr b="0">
                <a:solidFill>
                  <a:srgbClr val="94A3B8"/>
                </a:solidFill>
              </a:rPr>
              <a:t>Female depositors in this bracket churn at 56.4% compared to 45.8% for males, indicating unmet needs in advisory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Wealth Tier Dynamics and Capital Exposure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37744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ZERO-BALANCE COHORT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Balance Range: EUR 0.00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Capital Exposed: EUR 0.00 Exposed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Churn Rate: 13.82% (500 Exits departures)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37744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MODERATE BALANCE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Balance Range: EUR 1 - 119.8k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Capital Exposed: EUR 74.92M Exposed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Churn Rate: 23.87% (927 Exits departures)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2377440"/>
          </a:xfrm>
          <a:prstGeom prst="roundRect">
            <a:avLst/>
          </a:prstGeom>
          <a:solidFill>
            <a:srgbClr val="26141C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830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PREMIER CAPITAL TIER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Balance Range: &gt;= EUR 119.8k</a:t>
            </a:r>
          </a:p>
          <a:p>
            <a:pPr>
              <a:defRPr sz="1600" b="1">
                <a:solidFill>
                  <a:srgbClr val="EF4444"/>
                </a:solidFill>
              </a:defRPr>
            </a:pPr>
            <a:r>
              <a:t>Capital Exposed: EUR 110.85M Exposed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Churn Rate: 24.16% (610 Exits departures)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201168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Systemic Liquidity and Balance Sheet Vulnerability</a:t>
            </a:r>
          </a:p>
          <a:p>
            <a:pPr>
              <a:spcAft>
                <a:spcPts val="300"/>
              </a:spcAft>
              <a:defRPr b="1" sz="1100">
                <a:solidFill>
                  <a:srgbClr val="F1F5F9"/>
                </a:solidFill>
              </a:defRPr>
            </a:pPr>
            <a:r>
              <a:t>- The Fallacy of Unweighted Churn: </a:t>
            </a:r>
            <a:r>
              <a:rPr b="0">
                <a:solidFill>
                  <a:srgbClr val="94A3B8"/>
                </a:solidFill>
              </a:rPr>
              <a:t>Traditional head-count metrics treat a 0.00 EUR balance account departure identically to a 200,000 EUR wealth exit.</a:t>
            </a:r>
          </a:p>
          <a:p>
            <a:pPr>
              <a:spcAft>
                <a:spcPts val="300"/>
              </a:spcAft>
              <a:defRPr b="1" sz="1100">
                <a:solidFill>
                  <a:srgbClr val="F1F5F9"/>
                </a:solidFill>
              </a:defRPr>
            </a:pPr>
            <a:r>
              <a:t>- EUR 110.85M Flight in Top Quartile: </a:t>
            </a:r>
            <a:r>
              <a:rPr b="0">
                <a:solidFill>
                  <a:srgbClr val="94A3B8"/>
                </a:solidFill>
              </a:rPr>
              <a:t>610 churned depositors held balances exceeding 119.8k EUR, pulling over 110.85 Million EUR in liquid deposits out of the institution.</a:t>
            </a:r>
          </a:p>
          <a:p>
            <a:pPr>
              <a:spcAft>
                <a:spcPts val="300"/>
              </a:spcAft>
              <a:defRPr b="1" sz="1100">
                <a:solidFill>
                  <a:srgbClr val="F1F5F9"/>
                </a:solidFill>
              </a:defRPr>
            </a:pPr>
            <a:r>
              <a:t>- LCR and Funding Stability Risk: </a:t>
            </a:r>
            <a:r>
              <a:rPr b="0">
                <a:solidFill>
                  <a:srgbClr val="94A3B8"/>
                </a:solidFill>
              </a:rPr>
              <a:t>Under Basel III and ECB guidelines, rapid run-off of retail operational deposits strains short-term liquidity buffers and raises wholesale borrowing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Digital Engagement and the Product Bundling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The Multi-Product Bundling Paradox</a:t>
            </a:r>
          </a:p>
          <a:p>
            <a:pPr>
              <a:defRPr b="1" sz="1200">
                <a:solidFill>
                  <a:srgbClr val="F1F5F9"/>
                </a:solidFill>
              </a:defRPr>
            </a:pPr>
            <a:r>
              <a:t>1 Product (Single Relationship)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Volume: 5,084 accounts  |  Performance: 27.71% Churn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2 Products (Optimal Relationship)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Volume: 4,590 accounts  |  Performance: 7.58% Churn (Retained)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3 Products (Severe Attrition)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Volume: 266 accounts  |  Performance: 82.71% Churn (Exited)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4 Products (Complete Catastrophe)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Volume: 60 accounts  |  Performance: 100.00% Churn (60/60 Exited)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Operational Explanation &amp; Engagement Gap</a:t>
            </a:r>
          </a:p>
          <a:p>
            <a:pPr>
              <a:spcAft>
                <a:spcPts val="500"/>
              </a:spcAft>
              <a:defRPr b="1" sz="1100">
                <a:solidFill>
                  <a:srgbClr val="F1F5F9"/>
                </a:solidFill>
              </a:defRPr>
            </a:pPr>
            <a:r>
              <a:t>- Why 3 &amp; 4 Products Collapse: </a:t>
            </a:r>
            <a:r>
              <a:rPr b="0">
                <a:solidFill>
                  <a:srgbClr val="94A3B8"/>
                </a:solidFill>
              </a:rPr>
              <a:t>Aggressive promotional cross-selling packages teaser-rate cards, credit lines, and insurance. When introductory discounts expire, accumulated multi-product fees trigger abrupt relationship cancellations.</a:t>
            </a:r>
          </a:p>
          <a:p>
            <a:pPr>
              <a:spcAft>
                <a:spcPts val="500"/>
              </a:spcAft>
              <a:defRPr b="1" sz="1100">
                <a:solidFill>
                  <a:srgbClr val="F1F5F9"/>
                </a:solidFill>
              </a:defRPr>
            </a:pPr>
            <a:r>
              <a:t>- Customer Fatigue &amp; Administrative Friction: </a:t>
            </a:r>
            <a:r>
              <a:rPr b="0">
                <a:solidFill>
                  <a:srgbClr val="94A3B8"/>
                </a:solidFill>
              </a:rPr>
              <a:t>Managing disparate statements, regulatory disclaimers, and conflicting account minimums generates negative customer sentiment.</a:t>
            </a:r>
          </a:p>
          <a:p>
            <a:pPr>
              <a:spcAft>
                <a:spcPts val="500"/>
              </a:spcAft>
              <a:defRPr b="1" sz="1100">
                <a:solidFill>
                  <a:srgbClr val="F1F5F9"/>
                </a:solidFill>
              </a:defRPr>
            </a:pPr>
            <a:r>
              <a:t>- Digital Engagement Dividend: </a:t>
            </a:r>
            <a:r>
              <a:rPr b="0">
                <a:solidFill>
                  <a:srgbClr val="94A3B8"/>
                </a:solidFill>
              </a:rPr>
              <a:t>Active members (IsActiveMember=1) churn at 14.27% compared to 26.85% for inactive members—a 1.88x relative risk reduction.</a:t>
            </a:r>
          </a:p>
          <a:p>
            <a:pPr>
              <a:spcAft>
                <a:spcPts val="500"/>
              </a:spcAft>
              <a:defRPr b="1" sz="1100">
                <a:solidFill>
                  <a:srgbClr val="F1F5F9"/>
                </a:solidFill>
              </a:defRPr>
            </a:pPr>
            <a:r>
              <a:t>- Strategic Sweet Spot: </a:t>
            </a:r>
            <a:r>
              <a:rPr b="0">
                <a:solidFill>
                  <a:srgbClr val="94A3B8"/>
                </a:solidFill>
              </a:rPr>
              <a:t>Maintaining 2 deeply integrated core products maximizes switching barriers without inducing fee fatigue.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Predictive Modeling and Machine Learning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19456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</a:defRPr>
            </a:pPr>
            <a:r>
              <a:t>Model Evaluation on 80/20 Stratified Validation Split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</a:defRPr>
            </a:pPr>
            <a:r>
              <a:t>- Logistic Regression (Baseline): Accuracy 81.1%, ROC-AUC 0.768, Recall (Churn) 34.2%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</a:defRPr>
            </a:pPr>
            <a:r>
              <a:t>- Random Forest Classifier: Accuracy 86.4%, ROC-AUC 0.852, Recall (Churn) 51.8%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</a:defRPr>
            </a:pPr>
            <a:r>
              <a:t>- LightGBM Gradient Booster: Accuracy 86.9%, ROC-AUC 0.865, Recall (Churn) 54.6%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</a:defRPr>
            </a:pPr>
            <a:r>
              <a:t>- XGBoost Classifier (Production): Accuracy 87.2%, ROC-AUC 0.871, Recall (Churn) 56.4%, F1-Score 0.638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Top Model Feature Importance (SHAP / Gini)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- 1. Age (Weight: 0.28): Non-linear escalation between ages 45 and 60.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- 2. Geography Germany (Weight: 0.21): Primary geographical exit predictor.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- 3. Number of Products (Weight: 0.19): Severe cliff at 3+ products.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- 4. Account Balance (Weight: 0.17): Flight concentration in top quartile.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- 5. Active Membership Status (Weight: 0.15): Strong retention shield.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605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Operational Triage Integration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Real-Time Streamlit Scoring: Deployed via Python/Streamlit engine on port 8501.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Risk Stratification: Scores depositors into Low (&lt;20%), Medium (20-50%), and Critical (&gt;50%) flight hazard buckets.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Batch Export: Generates actionable CSV rosters for branch manager interventions.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- Intervention Window: Triggers retention actions 60-90 days prior to formal account 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Four-Pillar Strategic Retention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PILLAR 1: PRE-RETIREMENT WEALTH DESK</a:t>
            </a:r>
          </a:p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Target: Ages 46 to 60 (51.12% Churn)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Assign dedicated private wealth relationship managers before depositors enter pension decumulation.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Bundle tax optimization, estate structuring, and preferential term deposit yields.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Counteract female pre-retiree attrition (56.4%) with personalized wealth planning seminars.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PILLAR 2: GERMAN JURISDICTION TASKFORCE</a:t>
            </a:r>
          </a:p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Target: German Depositors (32.44% Churn)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Audit secondary account maintenance fees and debit card surcharges.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Introduce competitive rate tiers on core liquid savings to defend against neobanks.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Establish localized Berlin/Munich customer retention desks with fast-track escalation.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PILLAR 3: DIGITAL ACTIVITY INCENTIVIZATION</a:t>
            </a:r>
          </a:p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Target: Inactive Accounts (26.85% Churn)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Deploy automated 45-day inactivity alerts across mobile app and debit transactions.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Offer direct deposit cashback incentives and recurring bill pay setup rewards.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Transition passive single-product depositors into daily operational bank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20624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</a:defRPr>
            </a:pPr>
            <a:r>
              <a:t>PILLAR 4: PRODUCT BUNDLING RATIONALIZATION</a:t>
            </a:r>
          </a:p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</a:defRPr>
            </a:pPr>
            <a:r>
              <a:t>Target: 3+ Product Holders (82.7%+ Churn)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Eliminate punitive post-promotional fee cliffs on bundled credit and insurance lines.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Consolidate account statements into unified digital relationship overviews.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</a:defRPr>
            </a:pPr>
            <a:r>
              <a:t>- Focus relationship growth on the 2-product sweet spot (7.58% churn) rather than forced cross-selling.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EUROPEAN BANKING ANALYTICS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  <a:latin typeface="Calibri"/>
              </a:defRPr>
            </a:pPr>
            <a:r>
              <a:t>Regulatory Governance, Economic Impact and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7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Regulatory &amp; Supervisory Alignment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ECB SREP &amp; ICAAP Integration: </a:t>
            </a:r>
            <a:r>
              <a:rPr b="0">
                <a:solidFill>
                  <a:srgbClr val="94A3B8"/>
                </a:solidFill>
              </a:rPr>
              <a:t>European Central Bank supervisors evaluate operational deposit stability under Pillar 2 capital guidelines. Segment-specific depositor flight must be integrated into liquidity stress testing.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Basel III Liquidity Standards (LCR &amp; NSFR): </a:t>
            </a:r>
            <a:r>
              <a:rPr b="0">
                <a:solidFill>
                  <a:srgbClr val="94A3B8"/>
                </a:solidFill>
              </a:rPr>
              <a:t>Mitigating the EUR 110.85M flight among high-balance retail depositors directly strengthens the 30-day Liquidity Coverage Ratio buffer.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Consumer Protection &amp; TCF Compliance: </a:t>
            </a:r>
            <a:r>
              <a:rPr b="0">
                <a:solidFill>
                  <a:srgbClr val="94A3B8"/>
                </a:solidFill>
              </a:rPr>
              <a:t>Eliminating deceptive teaser rates and multi-product fee cliffs ensures strict compliance with European Banking Authority (EBA) Treating Customers Fairly principles.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GDPR Compliant Architecture: </a:t>
            </a:r>
            <a:r>
              <a:rPr b="0">
                <a:solidFill>
                  <a:srgbClr val="94A3B8"/>
                </a:solidFill>
              </a:rPr>
              <a:t>Predictive modeling and scoring are conducted on pseudonymized data pipelines without PII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7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Project Conclusions &amp; Direct Resources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Projected Economic Return: </a:t>
            </a:r>
            <a:r>
              <a:rPr b="0">
                <a:solidFill>
                  <a:srgbClr val="94A3B8"/>
                </a:solidFill>
              </a:rPr>
              <a:t>A 15% reduction in high-balance attrition preserves an estimated EUR 16.6 Million in core liquidity and EUR 1.8 Million in annual net interest income.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Executive Transformation: </a:t>
            </a:r>
            <a:r>
              <a:rPr b="0">
                <a:solidFill>
                  <a:srgbClr val="94A3B8"/>
                </a:solidFill>
              </a:rPr>
              <a:t>Shifts banking management from passive reactive attrition reporting to proactive, algorithmic depositor relationship preservation.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Repository Artifacts: </a:t>
            </a:r>
            <a:r>
              <a:rPr b="0">
                <a:solidFill>
                  <a:srgbClr val="94A3B8"/>
                </a:solidFill>
              </a:rPr>
              <a:t>Complete audited codebase, interactive Helix web portal, Streamlit analytical app, research papers, and technical reports available in the repository.</a:t>
            </a:r>
          </a:p>
          <a:p>
            <a:pPr>
              <a:spcAft>
                <a:spcPts val="600"/>
              </a:spcAft>
              <a:defRPr b="1" sz="1100">
                <a:solidFill>
                  <a:srgbClr val="F1F5F9"/>
                </a:solidFill>
              </a:defRPr>
            </a:pPr>
            <a:r>
              <a:t>- Project Lead: </a:t>
            </a:r>
            <a:r>
              <a:rPr b="0">
                <a:solidFill>
                  <a:srgbClr val="94A3B8"/>
                </a:solidFill>
              </a:rPr>
              <a:t>Prepared by Panchaksharayya | Quantitative Banking Analytics &amp; Financial Risk Advisory |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